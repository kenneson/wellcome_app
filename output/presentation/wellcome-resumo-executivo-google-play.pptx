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4948d65de94559" /><Relationship Type="http://schemas.openxmlformats.org/officeDocument/2006/relationships/extended-properties" Target="/docProps/app.xml" Id="Rc25358391ba646a6" /><Relationship Type="http://schemas.openxmlformats.org/officeDocument/2006/relationships/officeDocument" Target="/ppt/presentation.xml" Id="R097beddfa5b940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29edf790344f33"/>
  </p:sldMasterIdLst>
  <p:notesMasterIdLst>
    <p:notesMasterId xmlns:r="http://schemas.openxmlformats.org/officeDocument/2006/relationships" r:id="R1f294f8c32434155"/>
  </p:notesMasterIdLst>
  <p:sldIdLst>
    <p:sldId xmlns:r="http://schemas.openxmlformats.org/officeDocument/2006/relationships" id="256" r:id="R743f4f8a5c57408c"/>
    <p:sldId xmlns:r="http://schemas.openxmlformats.org/officeDocument/2006/relationships" id="257" r:id="R3ac1b070e15f405c"/>
    <p:sldId xmlns:r="http://schemas.openxmlformats.org/officeDocument/2006/relationships" id="258" r:id="R6d640ad4f8f34675"/>
    <p:sldId xmlns:r="http://schemas.openxmlformats.org/officeDocument/2006/relationships" id="259" r:id="Rd8f63ffea02743a4"/>
    <p:sldId xmlns:r="http://schemas.openxmlformats.org/officeDocument/2006/relationships" id="260" r:id="R4255a9ae1254458f"/>
    <p:sldId xmlns:r="http://schemas.openxmlformats.org/officeDocument/2006/relationships" id="261" r:id="Rc019cfcfc90b4ce5"/>
    <p:sldId xmlns:r="http://schemas.openxmlformats.org/officeDocument/2006/relationships" id="262" r:id="R7fe075b707984e06"/>
    <p:sldId xmlns:r="http://schemas.openxmlformats.org/officeDocument/2006/relationships" id="263" r:id="R4868bb4ce5dc441b"/>
    <p:sldId xmlns:r="http://schemas.openxmlformats.org/officeDocument/2006/relationships" id="264" r:id="Ra5edbd6bf1e14f57"/>
    <p:sldId xmlns:r="http://schemas.openxmlformats.org/officeDocument/2006/relationships" id="265" r:id="R7b8371c4419c4ec4"/>
    <p:sldId xmlns:r="http://schemas.openxmlformats.org/officeDocument/2006/relationships" id="266" r:id="Rd9e4540c4fef4a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8a1c8f8f54e4b" /><Relationship Type="http://schemas.openxmlformats.org/officeDocument/2006/relationships/slideMaster" Target="/ppt/slideMasters/slideMaster1.xml" Id="R5429edf790344f33" /><Relationship Type="http://schemas.openxmlformats.org/officeDocument/2006/relationships/notesMaster" Target="/ppt/notesMasters/notesMaster1.xml" Id="R1f294f8c32434155" /><Relationship Type="http://schemas.openxmlformats.org/officeDocument/2006/relationships/presProps" Target="/ppt/presProps.xml" Id="R4ac4fe85cbf54101" /><Relationship Type="http://schemas.openxmlformats.org/officeDocument/2006/relationships/tableStyles" Target="/ppt/tableStyles.xml" Id="Rd826610e731f40e4" /><Relationship Type="http://schemas.openxmlformats.org/officeDocument/2006/relationships/slide" Target="/ppt/slides/slide1.xml" Id="R743f4f8a5c57408c" /><Relationship Type="http://schemas.openxmlformats.org/officeDocument/2006/relationships/slide" Target="/ppt/slides/slide2.xml" Id="R3ac1b070e15f405c" /><Relationship Type="http://schemas.openxmlformats.org/officeDocument/2006/relationships/slide" Target="/ppt/slides/slide3.xml" Id="R6d640ad4f8f34675" /><Relationship Type="http://schemas.openxmlformats.org/officeDocument/2006/relationships/slide" Target="/ppt/slides/slide4.xml" Id="Rd8f63ffea02743a4" /><Relationship Type="http://schemas.openxmlformats.org/officeDocument/2006/relationships/slide" Target="/ppt/slides/slide5.xml" Id="R4255a9ae1254458f" /><Relationship Type="http://schemas.openxmlformats.org/officeDocument/2006/relationships/slide" Target="/ppt/slides/slide6.xml" Id="Rc019cfcfc90b4ce5" /><Relationship Type="http://schemas.openxmlformats.org/officeDocument/2006/relationships/slide" Target="/ppt/slides/slide7.xml" Id="R7fe075b707984e06" /><Relationship Type="http://schemas.openxmlformats.org/officeDocument/2006/relationships/slide" Target="/ppt/slides/slide8.xml" Id="R4868bb4ce5dc441b" /><Relationship Type="http://schemas.openxmlformats.org/officeDocument/2006/relationships/slide" Target="/ppt/slides/slide9.xml" Id="Ra5edbd6bf1e14f57" /><Relationship Type="http://schemas.openxmlformats.org/officeDocument/2006/relationships/slide" Target="/ppt/slides/slide10.xml" Id="R7b8371c4419c4ec4" /><Relationship Type="http://schemas.openxmlformats.org/officeDocument/2006/relationships/slide" Target="/ppt/slides/slide11.xml" Id="Rd9e4540c4fef4a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d7fc04af564b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4b8f9958b4b7e" /><Relationship Type="http://schemas.openxmlformats.org/officeDocument/2006/relationships/notesMaster" Target="/ppt/notesMasters/notesMaster1.xml" Id="R86f08dfb33be41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110aaecc624060" /><Relationship Type="http://schemas.openxmlformats.org/officeDocument/2006/relationships/notesMaster" Target="/ppt/notesMasters/notesMaster1.xml" Id="R482259b593ad45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fedf4bbf9e4fba" /><Relationship Type="http://schemas.openxmlformats.org/officeDocument/2006/relationships/notesMaster" Target="/ppt/notesMasters/notesMaster1.xml" Id="Rded1687336f743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191cbc578641c4" /><Relationship Type="http://schemas.openxmlformats.org/officeDocument/2006/relationships/notesMaster" Target="/ppt/notesMasters/notesMaster1.xml" Id="Rbaac80841d714c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a3698fe23e4c5a" /><Relationship Type="http://schemas.openxmlformats.org/officeDocument/2006/relationships/notesMaster" Target="/ppt/notesMasters/notesMaster1.xml" Id="Refd4c1cfa1b548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6a381e77364898" /><Relationship Type="http://schemas.openxmlformats.org/officeDocument/2006/relationships/notesMaster" Target="/ppt/notesMasters/notesMaster1.xml" Id="R6d65f1eef8da4d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4f7fbc20804a7c" /><Relationship Type="http://schemas.openxmlformats.org/officeDocument/2006/relationships/notesMaster" Target="/ppt/notesMasters/notesMaster1.xml" Id="Rab5ff0ed301444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0a9f6c827a4e9b" /><Relationship Type="http://schemas.openxmlformats.org/officeDocument/2006/relationships/notesMaster" Target="/ppt/notesMasters/notesMaster1.xml" Id="R4ddf5f19095243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8d8c2f00b74678" /><Relationship Type="http://schemas.openxmlformats.org/officeDocument/2006/relationships/notesMaster" Target="/ppt/notesMasters/notesMaster1.xml" Id="R436a87e6631b41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e445a5bae740b9" /><Relationship Type="http://schemas.openxmlformats.org/officeDocument/2006/relationships/notesMaster" Target="/ppt/notesMasters/notesMaster1.xml" Id="R7ed3903e3c7248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c1e4c3a0e54556" /><Relationship Type="http://schemas.openxmlformats.org/officeDocument/2006/relationships/notesMaster" Target="/ppt/notesMasters/notesMaster1.xml" Id="R962b0fd0428443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asset: assets/images/logo.png</a:t>
            </a:r>
          </a:p>
          <a:p xmlns:a="http://schemas.openxmlformats.org/drawingml/2006/main">
            <a:r>
              <a:t>- Background image: wellcome-landing/public/images/hero-table.png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Validation run on 2026-08-24: npm run typecheck; frontend Jest; backend build and Jest; expo-doctor; expo lint.</a:t>
            </a:r>
          </a:p>
          <a:p xmlns:a="http://schemas.openxmlformats.org/drawingml/2006/main">
            <a:r>
              <a:t>- docs/store-release-checklist.md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src/app/(tabs)/index.tsx</a:t>
            </a:r>
          </a:p>
          <a:p xmlns:a="http://schemas.openxmlformats.org/drawingml/2006/main">
            <a:r>
              <a:t>- src/app/events/[id]/index.tsx; join.tsx; payment.tsx; ticket.tsx; review.tsx</a:t>
            </a:r>
          </a:p>
          <a:p xmlns:a="http://schemas.openxmlformats.org/drawingml/2006/main">
            <a:r>
              <a:t>- Screenshot: wellcome-landing/public/images/app-event.png</a:t>
            </a:r>
          </a:p>
          <a:p xmlns:a="http://schemas.openxmlformats.org/drawingml/2006/main">
            <a:r>
              <a:t>- backend/src/index.ts routes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src/app route inventory</a:t>
            </a:r>
          </a:p>
          <a:p xmlns:a="http://schemas.openxmlformats.org/drawingml/2006/main">
            <a:r>
              <a:t>- src/app/events/create/*</a:t>
            </a:r>
          </a:p>
          <a:p xmlns:a="http://schemas.openxmlformats.org/drawingml/2006/main">
            <a:r>
              <a:t>- src/app/events/[id]/registrations.tsx; scanner.tsx</a:t>
            </a:r>
          </a:p>
          <a:p xmlns:a="http://schemas.openxmlformats.org/drawingml/2006/main">
            <a:r>
              <a:t>- src/app/profile/wallet.tsx; pix-key.tsx; src/app/kyc/index.tsx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backend/src/application/services/ChatService.ts</a:t>
            </a:r>
          </a:p>
          <a:p xmlns:a="http://schemas.openxmlformats.org/drawingml/2006/main">
            <a:r>
              <a:t>- backend/src/presentation/http/controllers/ModerationController.ts</a:t>
            </a:r>
          </a:p>
          <a:p xmlns:a="http://schemas.openxmlformats.org/drawingml/2006/main">
            <a:r>
              <a:t>- docs/regras-negocio-eventos-pagamentos.md</a:t>
            </a:r>
          </a:p>
          <a:p xmlns:a="http://schemas.openxmlformats.org/drawingml/2006/main">
            <a:r>
              <a:t>- supabase/functions/verify-kyc/index.ts and KYC migrations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docs/regras-negocio-eventos-pagamentos.md</a:t>
            </a:r>
          </a:p>
          <a:p xmlns:a="http://schemas.openxmlformats.org/drawingml/2006/main">
            <a:r>
              <a:t>- backend/.env: APP_FEE_PERCENTAGE=10; PAYMENT_PROCESSING_FEE_PAYER=PLATFORM; PAYMENT_CHECKOUT_EXPIRATION_MINUTES=60</a:t>
            </a:r>
          </a:p>
          <a:p xmlns:a="http://schemas.openxmlformats.org/drawingml/2006/main">
            <a:r>
              <a:t>- backend/src/domain/services/PaymentEconomics.ts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docs/regras-negocio-eventos-pagamentos.md</a:t>
            </a:r>
          </a:p>
          <a:p xmlns:a="http://schemas.openxmlformats.org/drawingml/2006/main">
            <a:r>
              <a:t>- backend/src/domain/services/RegistrationPaymentPolicy.ts</a:t>
            </a:r>
          </a:p>
          <a:p xmlns:a="http://schemas.openxmlformats.org/drawingml/2006/main">
            <a:r>
              <a:t>- backend/src/domain/services/HostFundsAvailabilityPolicy.ts</a:t>
            </a:r>
          </a:p>
          <a:p xmlns:a="http://schemas.openxmlformats.org/drawingml/2006/main">
            <a:r>
              <a:t>- backend/src/application/use-cases/ApproveRegistrationUseCase.ts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Validation run on 2026-08-24: frontend 21 tests; backend 138 tests; Expo Doctor 18/18; lint 0 errors and 43 warnings.</a:t>
            </a:r>
          </a:p>
          <a:p xmlns:a="http://schemas.openxmlformats.org/drawingml/2006/main">
            <a:r>
              <a:t>- docs/store-release-checklist.md</a:t>
            </a:r>
          </a:p>
          <a:p xmlns:a="http://schemas.openxmlformats.org/drawingml/2006/main">
            <a:r>
              <a:t>- backend test suite and Supabase migrations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docs/store-release-checklist.md</a:t>
            </a:r>
          </a:p>
          <a:p xmlns:a="http://schemas.openxmlformats.org/drawingml/2006/main">
            <a:r>
              <a:t>- Google Play testing: https://support.google.com/googleplay/android-developer/answer/9845334</a:t>
            </a:r>
          </a:p>
          <a:p xmlns:a="http://schemas.openxmlformats.org/drawingml/2006/main">
            <a:r>
              <a:t>- Personal account testing requirements: https://support.google.com/googleplay/android-developer/answer/14151465</a:t>
            </a:r>
          </a:p>
          <a:p xmlns:a="http://schemas.openxmlformats.org/drawingml/2006/main">
            <a:r>
              <a:t>- Account deletion: https://support.google.com/googleplay/android-developer/answer/13327111</a:t>
            </a:r>
          </a:p>
          <a:p xmlns:a="http://schemas.openxmlformats.org/drawingml/2006/main">
            <a:r>
              <a:t>- Data Safety: https://support.google.com/googleplay/android-developer/answer/10787469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Roadmap synthesized from docs/store-release-checklist.md and current validation results.</a:t>
            </a:r>
          </a:p>
          <a:p xmlns:a="http://schemas.openxmlformats.org/drawingml/2006/main">
            <a:r>
              <a:t>- Google Play testing guidance: https://support.google.com/googleplay/android-developer/answer/9845334</a:t>
            </a:r>
          </a:p>
          <a:p xmlns:a="http://schemas.openxmlformats.org/drawingml/2006/main">
            <a:r>
              <a:t>- Personal account testing requirements: https://support.google.com/googleplay/android-developer/answer/14151465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docs/regras-negocio-eventos-pagamentos.md - decisions still required before public operation.</a:t>
            </a:r>
          </a:p>
          <a:p xmlns:a="http://schemas.openxmlformats.org/drawingml/2006/main">
            <a:r>
              <a:t>- docs/store-release-checklist.md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14278c2a644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962159fe7d4ce2" /><Relationship Type="http://schemas.openxmlformats.org/officeDocument/2006/relationships/slideLayout" Target="/ppt/slideLayouts/slideLayout1.xml" Id="R2b16c696b5e84a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16c696b5e84a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6ce2d0ee94921" /><Relationship Type="http://schemas.openxmlformats.org/officeDocument/2006/relationships/image" Target="/ppt/media/image.png" Id="R3845b2558840456c" /><Relationship Type="http://schemas.openxmlformats.org/officeDocument/2006/relationships/image" Target="/ppt/media/image2.png" Id="Rba8ef1b1f25a44fd" /><Relationship Type="http://schemas.openxmlformats.org/officeDocument/2006/relationships/notesSlide" Target="/ppt/notesSlides/notesSlide1.xml" Id="R26b985838c6746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db5f9bce24bed" /><Relationship Type="http://schemas.openxmlformats.org/officeDocument/2006/relationships/notesSlide" Target="/ppt/notesSlides/notesSlide2.xml" Id="R9f39914eff4444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f92e23bb2424a" /><Relationship Type="http://schemas.openxmlformats.org/officeDocument/2006/relationships/image" Target="/ppt/media/image3.png" Id="R7f765d2c03694e0f" /><Relationship Type="http://schemas.openxmlformats.org/officeDocument/2006/relationships/notesSlide" Target="/ppt/notesSlides/notesSlide3.xml" Id="R40b636a34e224d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11a95270f4857" /><Relationship Type="http://schemas.openxmlformats.org/officeDocument/2006/relationships/notesSlide" Target="/ppt/notesSlides/notesSlide4.xml" Id="R9279f99a1a364e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23e45eb8b44c1" /><Relationship Type="http://schemas.openxmlformats.org/officeDocument/2006/relationships/notesSlide" Target="/ppt/notesSlides/notesSlide5.xml" Id="Rabc5d88aadb746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403875357456d" /><Relationship Type="http://schemas.openxmlformats.org/officeDocument/2006/relationships/notesSlide" Target="/ppt/notesSlides/notesSlide6.xml" Id="R4d2c4df75a3d43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ee57562ed4ff4" /><Relationship Type="http://schemas.openxmlformats.org/officeDocument/2006/relationships/notesSlide" Target="/ppt/notesSlides/notesSlide7.xml" Id="R0fd2c460c83241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d7f0353e144c3" /><Relationship Type="http://schemas.openxmlformats.org/officeDocument/2006/relationships/notesSlide" Target="/ppt/notesSlides/notesSlide8.xml" Id="R64537d78314743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c1c1291e64b87" /><Relationship Type="http://schemas.openxmlformats.org/officeDocument/2006/relationships/notesSlide" Target="/ppt/notesSlides/notesSlide9.xml" Id="R80d99483939744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c244542f94268" /><Relationship Type="http://schemas.openxmlformats.org/officeDocument/2006/relationships/notesSlide" Target="/ppt/notesSlides/notesSlide10.xml" Id="R5c8b261df4c445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cb1c76e934fb6" /><Relationship Type="http://schemas.openxmlformats.org/officeDocument/2006/relationships/notesSlide" Target="/ppt/notesSlides/notesSlide11.xml" Id="R922249494b1942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3A254-D6F8-4498-8CB7-B0400B6F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19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1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45F0A-57AF-4759-B8D3-B5563809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5b2558840456c"/>
          <a:srcRect xmlns:a="http://schemas.openxmlformats.org/drawingml/2006/main" l="27500" t="0" r="27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0"/>
            <a:ext cx="493395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ef1b1f25a44fd"/>
          <a:stretch xmlns:a="http://schemas.openxmlformats.org/drawingml/2006/main"/>
        </p:blipFill>
        <p:spPr>
          <a:xfrm xmlns:a="http://schemas.openxmlformats.org/drawingml/2006/main">
            <a:off x="685800" y="516246"/>
            <a:ext cx="2381250" cy="68200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A562F-4A1E-4BCF-BC92-4FC76844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715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5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 executivo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 plano de lançamento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C31B8-6AF3-46AB-945E-2DFE722A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Produto, modelo financeiro e caminho para a Google 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51335-7271-418A-A765-9E6F9DF6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ATUALIZAÇÃO AOS DONOS DA IDEIA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ED13F-32B9-4D14-8392-2A05447A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24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334934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303EF-43AA-49AD-848C-099B7D38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RESUMO EXECUTIVO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563B4-4285-437C-9630-B5CEE149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3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O núcleo do produto está pronto; o lançamento depende de operação e compliance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E61AB-89F2-4B18-A303-7073B53E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 tese já funciona ponta a ponta no código. O risco agora está nos fluxos reais de dinheiro, identidade e publicação.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87869-90CC-469D-A7C4-A630D9BE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1B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4028A-BD05-4434-9317-5F2B5A62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4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C376B-037C-4CFE-904E-0C6110F2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testes de frontend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aprovados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ABDBE-429B-4320-821B-A8CD34A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03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C3A85-91AE-4E8C-BE4A-E8CA1D71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62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4050" b="1">
                <a:solidFill>
                  <a:srgbClr val="315E9E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315E9E"/>
                </a:solidFill>
                <a:latin typeface="Aptos"/>
                <a:ea typeface="Aptos"/>
                <a:cs typeface="Aptos"/>
              </a:rPr>
              <a:t>138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BA2E1-6158-487E-950E-B311FC69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09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testes de backend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aprovados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71B23-66D9-47AA-AB61-17732828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003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A4D74-8307-478A-80D6-08EC512E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4050" b="1">
                <a:solidFill>
                  <a:srgbClr val="2F7A5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F7A5A"/>
                </a:solidFill>
                <a:latin typeface="Aptos"/>
                <a:ea typeface="Aptos"/>
                <a:cs typeface="Aptos"/>
              </a:rPr>
              <a:t>18/18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880BF-A9BC-4123-9FC9-50455277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checagens do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Expo Doctor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CD230-B701-480A-B923-EE3ECC7E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03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78A30-115D-48D2-81FC-D26DD44E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622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4050" b="1">
                <a:solidFill>
                  <a:srgbClr val="B86B16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B86B1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52DB7-4861-41DD-B824-801BBB50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erros no lint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43 avisos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88E96-2DE4-483D-A34D-625BDEA1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8013E-5A50-4E46-81A9-A4FE7E88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LEITURA PARA DECISÃO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DDE27-9F7E-4949-B820-59E2E747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Recomendação: entrar em teste fechado com escopo controlado e só liberar produção após validar PIX, KYC, reembolso, saque e exclusão de conta em aparelhos reais.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23416-8D58-44B4-AE89-A594BD0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71C61-0FFC-4471-BFA7-9E09415D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Wellcome | Atualização executiva | 24 ago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D622D-3F87-4873-992F-88F2C41C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4288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7D0F0E-333A-4073-8C71-C5D0550D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JORNADA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3119F-8FF7-4999-B555-5B793BAB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A experiência cobre descoberta, reserva, encontro e reputação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9434C-BD62-4324-8900-3CB69937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Participante e anfitrião seguem um fluxo único, com confiança e registro dentro da plataforma.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55A95-A535-4481-81CA-F383D9F4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2876550" cy="4324350"/>
          </a:xfrm>
          <a:prstGeom xmlns:a="http://schemas.openxmlformats.org/drawingml/2006/main" prst="roundRect">
            <a:avLst>
              <a:gd name="adj" fmla="val 12583"/>
            </a:avLst>
          </a:prstGeom>
          <a:solidFill xmlns:a="http://schemas.openxmlformats.org/drawingml/2006/main">
            <a:srgbClr val="43180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65d2c03694e0f"/>
          <a:srcRect xmlns:a="http://schemas.openxmlformats.org/drawingml/2006/main" l="0" t="40195" r="0" b="40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6275" y="1990725"/>
            <a:ext cx="2590800" cy="4038600"/>
          </a:xfrm>
          <a:prstGeom xmlns:a="http://schemas.openxmlformats.org/drawingml/2006/main" prst="roundRect">
            <a:avLst>
              <a:gd name="adj" fmla="val 1029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EA459-7291-4A92-A256-CACC7D85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1B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0837D-1AAF-4E41-94B2-6FFCFB72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0" cy="318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1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2A443-7143-44B6-BDA7-54EE0DFC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8BDFE-1E80-48E7-8CED-2D5D4800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EB2BD-7239-44FE-8967-5E6DEAAF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Descobrir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2FC88-3F4E-4CEA-A9DC-29E3F21E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621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Feed por cidade, localização e filtros.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1D7A7-E6D8-4D9E-A6BC-8C93D9D5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A8A9A-1077-4B7C-95AA-6B3F81F1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4FEA6-7652-4508-BD32-0B7DBA7D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Avaliar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42A39-5102-4F53-A412-A5510810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622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Detalhes, anfitrião, menu e regras.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2EF18-A08C-44B7-A4CB-F8F6CEBA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77951-8256-42E4-867B-0091FEB5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5E408-B9F6-446B-989C-A5E70780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Solicitar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CECA0-F8AF-41A7-A619-3FF48A6E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623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Perguntas, restrições e lista de espera.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732F5-BA2F-43F9-9482-09DACE82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BB02D-A3C7-42C3-9BA3-535157A5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386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DB2CE-B585-483A-8725-375BF76C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Confirmar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F0CB0-F8FA-42A4-9622-E4A6D0E0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624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Aprovação quando exigida, depois pagamento.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B5B52-F82C-4C9A-A319-3E3ADBFB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52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0DF5F-E015-4D81-A57A-E598AB5F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AB1E0F-6DBA-4311-8482-66209C0D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Participar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3BB156-E296-4816-8EDA-162836B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625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Chat, ingresso QR, check-in e avaliação.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EF6FEB-592A-43BD-B624-BC900070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5F116D-86FF-4DD7-B2ED-3B05EF02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Wellcome | Atualização executiva | 24 ago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F208C9-6787-498B-8909-95B290FB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093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67EA6-B878-4D67-B18F-932C3642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PRODUTO ENTREGUE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407BF-EBE7-400F-B610-745AA83A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Os dois lados do marketplace já operam no mesmo ciclo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A608C-BE86-4B5D-BFF4-3ADDC952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 proposta de valor combina descoberta social para o participante e controle operacional para o anfitrião.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7F5CC-38D0-4C73-B2B6-118C3110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733800"/>
          </a:xfrm>
          <a:prstGeom xmlns:a="http://schemas.openxmlformats.org/drawingml/2006/main" prst="roundRect">
            <a:avLst>
              <a:gd name="adj" fmla="val 6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3A2DD-D859-4AC2-821A-58270A37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733800"/>
          </a:xfrm>
          <a:prstGeom xmlns:a="http://schemas.openxmlformats.org/drawingml/2006/main" prst="roundRect">
            <a:avLst>
              <a:gd name="adj" fmla="val 6633"/>
            </a:avLst>
          </a:prstGeom>
          <a:solidFill xmlns:a="http://schemas.openxmlformats.org/drawingml/2006/main">
            <a:srgbClr val="431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E0B91-19B6-492B-AC9B-93024C34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PARA QUEM PARTICIPA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29926-1BBD-4797-B808-B485BF11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Escolher com contexto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e participar com segurança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50D44-5271-4B48-8C72-1EC98F38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AB1B2-CE78-43EA-91A8-B03E13A5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Feed local, filtros e detalhes completos do evento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4AE84-06BC-4344-904A-292C331B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EBF03-EFC4-49D1-A38F-96CEEC85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Inscrição, aprovação, pagamento PIX/cartão e lista de espera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12153-8B82-4912-B593-FA41ACE3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C647A-E776-41EE-ABD9-7192C76C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00650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Chat, notificações, ingresso QR e avaliações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7584B-2662-44AA-8637-FBE12AF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PARA QUEM ANFITRIA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9FBCA-59F1-4F2E-82FB-608781B2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956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Criar experiências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 controlar a operação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8ADCA-6D6E-4765-8FDD-D38A92E9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24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EDBAB-573C-466D-A49D-11C391E0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Wizard com rascunhos, local, data, menu e regras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74608-F0F2-4916-BCD0-D02F0F60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1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B19801-5566-4412-B239-240A265C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Gestão de inscritos, aprovações, vagas e scanner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644F0-19DF-45F4-853E-EEE9F51E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76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505EE-EE54-4147-A559-2AB437D8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00650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KYC, carteira, chave Pix, saldo retido e saque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C0418-DA8C-4B75-93FA-DACB0549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687C5-DDAE-455D-AC90-C3FBD5DB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Wellcome | Atualização executiva | 24 ago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90B30-D9D0-4DFB-87E9-4A5890A5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3059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964ED2-2612-49B4-A84E-58C1FAFE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CONFIANÇA COMO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3BB09-6F9C-4E86-8AD8-4D27CD36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4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A proteção Wellcome acompanha a jornada, não aparece só no checkout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308EE-7537-49AF-A646-F8107834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Comunicação, identidade, moderação e histórico financeiro formam uma camada única de confiança.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33BB8-2530-4B47-A005-F8EA3AF4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79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1B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A9A43-D8D2-4727-8548-05EFEBDB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90900"/>
            <a:ext cx="179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1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5F8A6-A7DD-4449-AA6F-7BC6A29C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1B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635FD-3546-4781-AF4E-FE73C636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195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1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15E4D-6792-4291-9A60-B6DD009F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2057400" cy="2057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AFA4A-E017-46EC-B60C-7A5BBD30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09925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PROTEÇÃO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WELLCOME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EF1B4-46D3-4087-A726-8C361BB2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57175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87F70-D184-400B-8931-D02882B4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Chat interno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46C93-9169-444F-BA97-83167313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Mensagens do evento, alergias, automações e endereço liberado só na confirmação.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B62CE-777A-4D94-8B14-D32C2939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52700"/>
            <a:ext cx="257175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D0235-8251-4804-A31D-F227B8ED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315E9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15E9E"/>
                </a:solidFill>
                <a:latin typeface="Aptos"/>
                <a:ea typeface="Aptos"/>
                <a:cs typeface="Aptos"/>
              </a:rPr>
              <a:t>Moderação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11444-61E2-4A55-AB63-797B0B32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2114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Denúncia, bloqueio de usuário e fila administrativa para tratamento.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16606-7C2F-4F55-BF61-0EDA1F12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24050"/>
            <a:ext cx="25146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F4ED"/>
          </a:solidFill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ADDC0-C0CF-4FFE-9B21-11C26095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F7A5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7A5A"/>
                </a:solidFill>
                <a:latin typeface="Aptos"/>
                <a:ea typeface="Aptos"/>
                <a:cs typeface="Aptos"/>
              </a:rPr>
              <a:t>Identidade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01BC1-A458-452D-BE51-BD6E882E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2057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35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KYC obrigatório para anfitriar evento pago e sacar.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19F05-3902-4D72-8B64-A51DC298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86300"/>
            <a:ext cx="3048000" cy="10858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ABC2C9-96D2-4608-8234-5DF47004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958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86B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86B16"/>
                </a:solidFill>
                <a:latin typeface="Aptos"/>
                <a:ea typeface="Aptos"/>
                <a:cs typeface="Aptos"/>
              </a:rPr>
              <a:t>Histórico preservado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6862B-2CC4-461F-BBE7-E913FE99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768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6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Cancelamentos e reembolsos não apagam o registro financeiro.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3C123-B10F-4060-8F2E-C81053AB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A44C2-BE44-46C6-9882-118152A3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Wellcome | Atualização executiva | 24 ago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EF35A-A2C2-4430-A99D-AA72BDEB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8824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9F7458-E97F-413F-AF4D-464AEC1F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MODELO ECONÔMICO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6D66E-6263-4CAF-B20B-B5870AA7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1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A Wellcome cobra 10% e conhece a margem realizada por pagamento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10803-005C-49A8-BB77-313F0129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 configuração local atual coloca a taxa do processador como custo da plataforma.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A8CEC-7402-436A-9611-6A95FAE5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61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77B36-8259-4562-9C49-18583ACD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taxa Wellcome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sobre o ingresso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9DD29-61CC-420A-B663-0C3F44E7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7372350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FFE6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A543D-016B-4CEA-B613-2F70A689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6638925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FC60F-D3EF-470F-B5B9-1021BF9A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381250"/>
            <a:ext cx="733425" cy="666750"/>
          </a:xfrm>
          <a:prstGeom xmlns:a="http://schemas.openxmlformats.org/drawingml/2006/main" prst="roundRect">
            <a:avLst>
              <a:gd name="adj" fmla="val 31429"/>
            </a:avLst>
          </a:prstGeom>
          <a:solidFill xmlns:a="http://schemas.openxmlformats.org/drawingml/2006/main">
            <a:srgbClr val="431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042B6-943C-491A-A86A-8FBE662D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R$ 90 para o anfitrião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692AC-E72E-4A00-A86A-EDB34810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8127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R$ 10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9373B-923D-46D3-B79F-BBC92EAD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EXEMPLO DE INGRESSO DE R$ 100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AB131-1943-4FB7-9899-793AD95A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71850"/>
            <a:ext cx="737235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B5852-94AD-4A4F-A65B-3183B3EC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81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625C"/>
                </a:solidFill>
                <a:latin typeface="Aptos"/>
                <a:ea typeface="Aptos"/>
                <a:cs typeface="Aptos"/>
              </a:rPr>
              <a:t>Dentro dos R$ 10 da plataforma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EBDF5-3BA4-46BB-B908-117672B2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862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B86B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86B16"/>
                </a:solidFill>
                <a:latin typeface="Aptos"/>
                <a:ea typeface="Aptos"/>
                <a:cs typeface="Aptos"/>
              </a:rPr>
              <a:t>R$ 2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16819-B112-4F12-8E30-236DB15B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71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custo do processador*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6447F-4C69-4C95-A620-0B9CBCDA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7A5A5-7BB1-415C-8148-FC074106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2F7A5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F7A5A"/>
                </a:solidFill>
                <a:latin typeface="Aptos"/>
                <a:ea typeface="Aptos"/>
                <a:cs typeface="Aptos"/>
              </a:rPr>
              <a:t>R$ 8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15C97-88FF-4815-B867-96B4D668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71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margem Wellcome*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E1380-3927-44F7-85CC-0B9F1C2F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7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0807B-D178-4EBF-B534-416B58A1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405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R$ 5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7A8FB-98AA-406B-B169-358C190E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valor mínimo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de evento pago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63611-E759-447F-8C3D-948D8D05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244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4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R$ 50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2BD81-CC17-4C7B-8B6F-7F57CCE4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772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saque mínimo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configurado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D01FA-F14D-4402-8588-DB482BDE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244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4050" b="1">
                <a:solidFill>
                  <a:srgbClr val="315E9E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315E9E"/>
                </a:solidFill>
                <a:latin typeface="Aptos"/>
                <a:ea typeface="Aptos"/>
                <a:cs typeface="Aptos"/>
              </a:rPr>
              <a:t>60 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E287D-9EE1-42A8-8581-FC96E24E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72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expiração do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B86FFD-916A-44DA-B6EE-3CEE3607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244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4050" b="1">
                <a:solidFill>
                  <a:srgbClr val="2F7A5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F7A5A"/>
                </a:solidFill>
                <a:latin typeface="Aptos"/>
                <a:ea typeface="Aptos"/>
                <a:cs typeface="Aptos"/>
              </a:rPr>
              <a:t>24 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CD1E52-E16C-48E4-B560-6F5CB152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72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prazo de pagamento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após aprovação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B516E3-70C3-4C21-BFCE-49D243AE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72000"/>
            <a:ext cx="737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* Custo de R$ 2 e margem de R$ 8 são ilustrativos; a taxa efetiva do Asaas varia por transação.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03F2B1-466D-4232-A43C-75A7CCAE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EE6504-E447-4B0F-B0BB-D5EF28E3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Wellcome | Atualização executiva | 24 ago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EA1C4D-E07B-4581-A951-D17BE48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7282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2D383-D7C4-4BB3-9268-0ACA4B17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REGRAS QUE PROTEGEM VAGAS E DINHEIRO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93A84-9AAF-416D-AFE7-B51CB0A5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Em eventos moderados, aprovação vem antes do pagamento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39782-4D22-4A9F-A887-77030AB3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 vaga só vira presença confirmada quando as condições do evento e do pagamento foram atendidas.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663B9-A57F-48DC-991A-544A576C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96090-F96E-4FAF-BD09-6A626F6A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33187-E892-4193-A183-2ACF5AD9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ED59D-FDC4-436E-96F6-DB6D6519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1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8834B-0139-4FAE-87BE-50A6195C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80975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B2942-43EA-4EE1-B716-2C1BA9A0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6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8AE68-1FD6-4C3E-BF62-8A03DFFA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Pedido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B975A-2035-4C04-B52E-58002BC7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Sem cobrança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e sem ocupar vaga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9FE93-FAC2-4043-8500-2890FD86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19350"/>
            <a:ext cx="180975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A72FC-AFBF-4323-A3D9-F38F44C8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6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E30C5-E58B-49D0-BF49-F11BCE6D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Aprovação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466C9-5322-400B-AD25-B393E73F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Anfitrião decide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com capacidade protegida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D9EE0-4A3D-4DAB-A5CB-49C1D506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19350"/>
            <a:ext cx="180975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183C3-969D-4B35-B1C7-63F3BD22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6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2438A-6F74-4671-8D8C-48B7F91E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28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Pagamento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50974-8741-4F00-B95D-07B2A4B7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Até 24 h ou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até o evento iniciar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5978B-B951-4AC7-9356-D00B0303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19350"/>
            <a:ext cx="180975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C501FA-6457-4761-B534-7D4AD47E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36C75-B4C4-41A9-9694-5B576E62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2BE62E-0978-4CB2-8946-3EC03EB1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Ingresso e endereço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exato são liberados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8D09D-B685-47A5-8599-D2340CBF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19350"/>
            <a:ext cx="180975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431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38F25-7AB7-4E4C-B2BC-2A879837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77604-25D1-4A03-890C-2ADE0564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28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Repasse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2195E-E3A7-4D71-BFD9-71017B44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Saldo disponível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24 h após o evento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3CBE63-6DD5-4CA0-8D20-1962F6EF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E6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3A4F7E-0138-4A54-802F-1AFA3998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F7A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A5A"/>
                </a:solidFill>
                <a:latin typeface="Aptos"/>
                <a:ea typeface="Aptos"/>
                <a:cs typeface="Aptos"/>
              </a:rPr>
              <a:t>CAPACIDADE E LISTA DE ESPERA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4ABF80-47EC-4C51-A555-20F1FAC9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986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Pedidos pendentes não ocupam vagas. Reservas aprovadas expiram sem pagamento e a fila é promovida automaticamente. Depois da primeira venda, preço, data, vagas, endereço e regras comerciais ficam protegidos contra alteração.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F81E3A-F3B0-449D-B2E0-BCE7A877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0C26D3-EAC9-4078-98BE-A6C00C98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Wellcome | Atualização executiva | 24 ago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0718E9-36D6-4AB9-BF81-95F8A645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3566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131851-9A0C-40AA-9884-1E6F8790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PRONTIDÃO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CD703-EAE2-478D-BC87-F82EAB72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3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A base automatizada está saudável; a prova final precisa acontecer no ambiente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0D009-3DAD-492B-904D-91DB4F4D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O código está em boa condição para piloto, mas integrações críticas ainda precisam de evidência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34C34-A570-44AC-897D-102A4B1A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257800" cy="3619500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E6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1F08B-2E88-4041-8444-A86D5762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5257800" cy="3619500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FFF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FD7B3-A338-484B-B835-94FB3F25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A5A"/>
                </a:solidFill>
                <a:latin typeface="Aptos"/>
                <a:ea typeface="Aptos"/>
                <a:cs typeface="Aptos"/>
              </a:rPr>
              <a:t>CONFIRMADO NO CÓDIGO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4DC54-A5DC-4B7A-8D3D-5734C2BF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Pronto para piloto controlado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15644-AF3B-4848-BECC-36183DA0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7C76C-044E-4519-8398-A51E8FB8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Build do backend e TypeScript aprovados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42E18-B7B7-46B6-B56F-FC16E4BE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4840D-2BF6-485B-844B-58B45499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14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159 testes automatizados aprovados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B1A49-3CBF-48A6-8D72-D95DAB6B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3CD3A-5244-4B10-A8F6-2A14EFFC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Expo Doctor 18/18 e lint sem erros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22BB0-2F94-4A1D-98D9-3987F355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57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5DD3E-6234-4A4F-B4F7-C0E306AF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816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Concorrência, idempotência e histórico financeiro cobertos por testes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A1DEB-FAFB-4F17-B962-EEA4000B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86B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6B16"/>
                </a:solidFill>
                <a:latin typeface="Aptos"/>
                <a:ea typeface="Aptos"/>
                <a:cs typeface="Aptos"/>
              </a:rPr>
              <a:t>VALIDAR EM PRODUÇÃO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09D05-1765-4AAC-A499-DE197308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Não pode depender de suposição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F8650-4A18-4332-8107-E4F41128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72832-CF85-4A8A-B421-3DDF5030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814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PIX, reembolso, webhook e saque Asaas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ED098-DB0D-4264-A434-8509E542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83B5F-5178-4A13-9256-8DB67DB6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14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KYC, uploads e notificações em aparelhos reais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CCA36-7FD4-4565-921D-AB7D2FCF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6FB96-1D72-4514-80EF-403524CB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RLS, grants e migrations no Supabase implantado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61160-059A-4504-ABB6-040D5256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B50A7-3C21-4859-AD83-72ECC336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816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Cron de expiração, fila e liberação de saldo com alertas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75D00B-763A-42F4-ABE3-74F4BAAF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45096-DFA1-4852-B5C0-51B48ED0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Wellcome | Atualização executiva | 24 ago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AEE30A-6C37-44D6-883B-2648C7F7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1112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34EC8A-A7A1-429C-8BA2-5D0C052C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GOOGLE 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C49F7-5EEB-4254-86B4-D170A58C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3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O bloqueio de lançamento não é uma nova feature; é fechar publicação e evidências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1BAF8-D611-4FB2-87F4-7AB95D4E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 prioridade deve ser reduzir risco de reprovação e de incidente no primeiro grupo de usuários.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10E9E-9352-4248-A6A0-5A669FEB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A63D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3D35"/>
                </a:solidFill>
                <a:latin typeface="Aptos"/>
                <a:ea typeface="Aptos"/>
                <a:cs typeface="Aptos"/>
              </a:rPr>
              <a:t>ANTES DE ENVIAR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40AE3-3A0F-40D5-8ACA-EEC10D4C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98B92-0DD0-4882-8581-9F70B80D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98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Ícone oficial quadrado, adaptive icons e screenshots finais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77513-6505-44B0-8048-3A9ACAAD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EDAA5-5D02-44FE-9831-99ADD9DA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598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Política de Privacidade, Termos e URL pública de exclusão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76DD2-D27C-4792-A785-9CCEC860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F32B0-35BE-4D79-A8B9-E620E614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598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Data Safety preenchido de acordo com dados e SDKs usados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E6BB5-5488-40ED-BCC4-CFA80523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E9173-6E2C-4258-A378-7B80C782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598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Variáveis EAS e backend de produção confirmadas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2DE25-2177-4F87-831E-E140BE9F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6CF91-F086-4E98-9078-4790C8FF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598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AAB assinado e conta de revisão com dados de acesso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E9A96-E794-42B5-937F-FE499532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76276-2144-454B-A3D1-AE383278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598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11A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11A17"/>
                </a:solidFill>
                <a:latin typeface="Aptos"/>
                <a:ea typeface="Aptos"/>
                <a:cs typeface="Aptos"/>
              </a:rPr>
              <a:t>Teste físico completo dos fluxos financeiros e de identidade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77250-7439-4074-A2AA-8B81F81A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4267200" cy="34290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431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4CEA4-CDB9-43DE-95F8-5FA9EF3F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CAMINHO DE PUBLICAÇÃO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B1107-A64B-46A6-B0DC-DCDB8D3F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10C46-87EA-41C8-8A61-8C28E3D8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71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2454C-B099-4F48-8B3E-1F6ABBC3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interno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F2D71-E598-4558-9B75-F609A1F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718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Equipe e QA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F8F0A5-AD55-4D50-BFA5-8C38753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76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22AAE-8D72-44A9-B2BF-EE726C4A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528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29835-58C4-4DF3-9EBF-2D74E83E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Teste fechado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1DAC6C-1011-48C4-9F53-3178C982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Usuários convidados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C82596-2712-479B-A183-3A2B24DD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57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0D4A2C-0492-44B0-93C6-86EC1652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33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81346D-DFB7-4693-99C3-574516B2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481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Acesso à produção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ECCB35-DB4D-424E-A5D5-17DBD00B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Solicitação no Console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21758D-E36A-49C6-9E9B-291E6EEB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38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7EBB9E-FCF8-4661-B60A-51F12B1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148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B216E8-F896-40F6-AB5A-D52CC6E2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Lançamento gradual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ED7F27-60B2-4579-9BB1-5291494E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14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Monitorar e ampliar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411AFB-E31A-43E8-8B54-13950813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57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Conta pessoal criada após 13/11/2023: 12 testadores por 14 dias contínuos antes de solicitar produção.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2B278F-94AB-411E-B571-55490341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F88129-D93D-40A0-B278-302B848C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Wellcome | Atualização executiva | 24 ago 2026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740EB3-E28F-4321-ACC3-0606760E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726547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53EF19-9CAC-4689-8499-72E7E363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PLANO DE EXECUÇÃO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CF3EF-C6E1-4043-800F-28666325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0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Seis semanas para transformar o produto em uma operação publicável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FD76D-B4DE-4BB2-9059-1EA956CE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Cada semana termina com um critério objetivo de saída; falhas em dinheiro ou identidade interrompem o avanço.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D7412-A7F9-4E4D-9D2B-0E763098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D1B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D7B7C-7E6E-44AD-AF1B-915566B2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71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6CA0E-98A9-4F41-B389-5201E582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53DC1-1014-46C1-8A68-5C760787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SEMANA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C596C-8E41-45E9-85A8-7AA35651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Marca e políticas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B5A3F-9265-4463-BAD8-373C82FC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Ícones oficiais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URLs públicas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Texto comercial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AD60A-27DD-41E1-BAD6-B289FEAC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9AB82-0AD8-4587-9195-60F465E1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89741-03AD-4179-B9D5-646CA917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718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SEMANA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04451-B7E1-4A21-A6BD-BC6E6759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576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Produção segura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A0B3D-47BA-4C1D-B076-B96C94F3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053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EAS e backend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RLS e grants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Cron e alertas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F1A30-AEA5-4346-A494-65D61CD4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71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F6272-942A-4868-A2A4-B2B95AC2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45E92-E861-4E54-9DEF-27D00DCC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SEMANA 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65622-4B57-4AB6-94F9-99F3D9E8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576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E2E 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74051-EBD6-496C-8976-C98FA0F8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053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PIX e cartão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Reembolso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Saque e KYC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7CEF8-66A5-48BA-82F6-977644EB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71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05C61-C464-4A04-A395-522E889E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22A774-9EDC-4B79-9C1B-17B22B6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718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SEMANA 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1756A-A15E-475D-9261-692AE27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576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Teste fechado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286480-7D56-48C4-9DC0-7789CECF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AAB interno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Cohort ativo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Feedback rastreado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556BED-BE9A-4A94-81E0-7A46856A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A3F04C-4469-4A03-BC06-A13334A2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8D1145-6426-4786-8452-8B8FBB5F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718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SEMANA 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6552DB-883E-41A8-8EC0-1AED0BB1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576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Correção e loja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03F84-8260-4B98-933E-B369154D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Bugs críticos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Screenshots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Data Safety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562234-B76F-476A-9E7F-747C67C3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71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1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672F5E-19EB-4D73-A4FE-4F300A70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8A882E-2974-481F-B46F-9097A0B6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718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SEMANA 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0D6012-7164-460A-9BA8-31C82E4F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576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800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Go / no-go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E9CECC-940F-4096-A19F-EFBE95D2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053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Regressão final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Suporte pronto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Rollout gradual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618142-A620-44C9-B35E-FC230167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90550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81DDBE-28AC-4C34-AC2C-16ECA9CE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43180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3180C"/>
                </a:solidFill>
                <a:latin typeface="Aptos"/>
                <a:ea typeface="Aptos"/>
                <a:cs typeface="Aptos"/>
              </a:rPr>
              <a:t>Gate de lançamento: zero falha bloqueadora em pagamento, reembolso, saque, KYC e exclusão de conta.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3C0964-3805-4986-9959-1CFA65A3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9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CF823F-C828-4733-A805-07DEC56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62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5C"/>
                </a:solidFill>
                <a:latin typeface="Aptos"/>
                <a:ea typeface="Aptos"/>
                <a:cs typeface="Aptos"/>
              </a:rPr>
              <a:t>Wellcome | Atualização executiva | 24 ago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C807CE-B11A-4952-AC43-3044682C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BE52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521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786376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4318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E01C3-3793-4631-BA89-42A07413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DECISÕES DOS DONOS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FE79D-85B4-40D0-BD36-454759B2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produto precisa agora de decisões operacionais, não de mais escopo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E363C-7E1E-4238-89BD-26D813EA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73F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FBCD7-9DC5-4A61-9170-2722C461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93A42-EF31-43F3-8ACB-41370BB8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Confirmar o modelo comercial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C06E0-483D-4FF3-94C0-AD426AB6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99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Taxa Wellcome de 10% e quem absorve o custo do processador.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1B3BB-F25B-40EF-B22C-365FABA7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2656C-A7B9-4D73-B6EB-C6436751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Aprovar políticas críticas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BEB8F-D0AB-4AB6-9153-23F7566C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99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Cancelamento, no-show, prazo de reembolso, chargeback e responsabilidades fiscais.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3C0E9-1393-448D-9630-4588F589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93FC3-944B-40B8-83FC-CFAA573C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Nomear responsáveis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B8823-BC7B-4C1F-8248-A98CBACB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KYC, saques, reembolsos, moderação e suporte ao primeiro grupo.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64BC0-4E4F-466E-8454-DBCD3793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9C4FF-1CE1-4883-8BA9-D0793CFC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Autorizar o piloto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83DB4-BB63-468B-ACFB-F6EC88DB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386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Conta Play, cohort de teste, canal de feedback e critério de go / no-go.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C98D7-D83B-4508-9B34-A3C31E79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8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7A6CD-0B05-43AC-A7B3-C1B1B73B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62625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0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Próximo marco recomendado: publicar o AAB em teste interno e iniciar a sprint 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26174-055A-4DFE-B05C-107BB3AF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FFE6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E6D5"/>
                </a:solidFill>
                <a:latin typeface="Aptos"/>
                <a:ea typeface="Aptos"/>
                <a:cs typeface="Aptos"/>
              </a:rPr>
              <a:t>Wellcome | Atualização executiva | 24 ago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E2F03-A8D6-4856-8837-4F760EA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97590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2026-08-24T22:05:02.2480000Z</dcterms:created>
  <dcterms:modified xsi:type="dcterms:W3CDTF">2026-08-24T22:05:02.2480000Z</dcterms:modified>
</coreProperties>
</file>